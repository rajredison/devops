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0F86-B532-B743-3761-BD8468A99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96AFC-39B6-DA89-7949-7DCFC7F62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DB0E4-57A7-E1B6-A338-05BFBE66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40C5C-1AEB-D124-116E-260C26A8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2325A-A88D-BE6B-5785-08A9CA0D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8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D7B6-8BD3-0EA5-505A-0FC52B3D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758D8-7A59-C605-C2C3-89B14C87E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6548D-CCBF-CB88-8C06-7FF4BDF6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B1D85-ED16-315E-E12B-05EA7876F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BDEB4-021E-3CFE-4A6C-4DB3FDB04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1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07387-F162-C25D-80C7-6779F475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0DBD3-FFD4-C870-8032-498269D34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F6950-F730-6323-3B7D-4FDD604D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4BD79-0AA5-2AD5-EE24-2A2B459A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2EF83-3B97-1786-DFA8-EA2E23B3C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87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27DA-A677-E2B2-2FAC-D3FB1B26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DAE77-8536-B325-44D6-654DBC960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FA646-F330-2285-ABDA-7124CB170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B1B2E-122E-E348-696B-7AABABBF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412B7-680D-9B74-D62B-9ED50DB5C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9CC25-DDA1-0BAF-51FC-6CF2F238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07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5E18-7151-C6ED-8913-7C1BBCDD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8E489-8B8A-7EE5-FE1E-626E4A11F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C0397-12DB-2321-BD27-EA73E1840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4EB60-2412-9830-2838-D65007A6B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9567C-9CC4-E420-149A-CD5BE5771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17834-D303-C66C-6D75-C93FAB112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F582-E494-448E-3661-A6292E44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D9FFE-B775-A3E6-14B1-C2BA0C5A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41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F2B6-2452-D3A3-7D76-862FC4B4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45500-7215-17A6-A075-B55C9D9C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67DEE-AE2C-0598-2FC7-D2310C37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8AE8F-921C-8C39-2085-345C633D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44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407FF-C23E-A840-467B-CDC78252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F9027-974A-EA93-B5FC-7688146F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4FC14-CEE3-E9F8-5C9E-D93BE212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91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825A-BB2A-B795-0333-5A6253215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FB29-B518-0469-59A7-E71889122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2D791-571D-2F43-DA01-CBC876C6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43D0C-F338-4C2C-40F3-5E0CF32E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D7225-DCD7-FFC9-7E66-819AF0C8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4FE3C-3BD1-A130-6C0F-D82E9991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82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D75A-0697-E3FD-80E8-9A337B7E1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21D2F-1F34-DEE2-3F3F-4C5304266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ABF33-1379-9B21-7006-F8BCDCA21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0E4D4-61B6-DE53-E794-4E70BE2E9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D81D3-3D50-622B-81C0-12D6AF03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D225B-B559-D018-85F3-64A4E65D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352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F2C9-B2EC-BE20-F0C9-CE6A21D0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0B072-AD17-ED7B-9CF3-426A98954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323B0-5671-AC5E-3A11-58A7F2C3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D7CE6-BF8C-D90E-AB6D-B26772F0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92DC5-B0B8-F309-DCF6-E1F67693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253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C8495-3584-9BDD-4302-BB61B85A2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A0EEA-56E9-11CB-54EA-C4BBC04FE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FE6B-54C6-9C8E-D32B-53B52A595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734A9-3798-65C7-3D88-DBDE98DB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335BA-D875-5777-F406-8A831E08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73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0652A2-CC39-98D8-64A4-B3C5DD71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EB70E-4081-C082-02F6-3D10F9843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2ED33-9554-0CC8-186E-C6930B82F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6AD1F-474A-4B3F-9773-058CBFF7F9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372EE-117D-5893-101F-2551BD13C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4C603-9963-EC46-BED9-921A0AEBC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09EC5-8100-4453-A20B-15FCA2367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CD66-C624-3D5E-FBB8-9DB113FEF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7837"/>
          </a:xfrm>
        </p:spPr>
        <p:txBody>
          <a:bodyPr>
            <a:normAutofit/>
          </a:bodyPr>
          <a:lstStyle/>
          <a:p>
            <a:r>
              <a:rPr lang="en-US" sz="2800" b="1" dirty="0"/>
              <a:t>Storage Summary (Allocated vs Used)</a:t>
            </a: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3FB6E-CB5A-FB4F-ACBB-0C073DCDD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844675"/>
            <a:ext cx="9255919" cy="4384675"/>
          </a:xfrm>
        </p:spPr>
        <p:txBody>
          <a:bodyPr/>
          <a:lstStyle/>
          <a:p>
            <a:pPr algn="l"/>
            <a:r>
              <a:rPr lang="en-US" sz="1400" b="1" dirty="0"/>
              <a:t>Overall Stats</a:t>
            </a:r>
          </a:p>
          <a:p>
            <a:pPr algn="l"/>
            <a:r>
              <a:rPr lang="en-US" sz="1400" dirty="0"/>
              <a:t>Total Allocated</a:t>
            </a:r>
            <a:r>
              <a:rPr lang="en-US" sz="1400" b="1" dirty="0"/>
              <a:t>:</a:t>
            </a:r>
            <a:r>
              <a:rPr lang="en-US" sz="1400" dirty="0"/>
              <a:t> 2,110 GB</a:t>
            </a:r>
          </a:p>
          <a:p>
            <a:pPr algn="l"/>
            <a:r>
              <a:rPr lang="en-US" sz="1400" dirty="0"/>
              <a:t>Total Used</a:t>
            </a:r>
            <a:r>
              <a:rPr lang="en-US" sz="1400" b="1" dirty="0"/>
              <a:t>:</a:t>
            </a:r>
            <a:r>
              <a:rPr lang="en-US" sz="1400" dirty="0"/>
              <a:t> 194 GB</a:t>
            </a:r>
          </a:p>
          <a:p>
            <a:pPr algn="l"/>
            <a:r>
              <a:rPr lang="en-US" sz="1400" dirty="0"/>
              <a:t>Overall Utilization</a:t>
            </a:r>
            <a:r>
              <a:rPr lang="en-US" sz="1400" b="1" dirty="0"/>
              <a:t>:</a:t>
            </a:r>
            <a:r>
              <a:rPr lang="en-US" sz="1400" dirty="0"/>
              <a:t> ~9.2%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E98C02-ACC6-B798-D8E3-8A7D34838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122546"/>
              </p:ext>
            </p:extLst>
          </p:nvPr>
        </p:nvGraphicFramePr>
        <p:xfrm>
          <a:off x="4257675" y="2206149"/>
          <a:ext cx="30226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72706883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96511824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4053521125"/>
                    </a:ext>
                  </a:extLst>
                </a:gridCol>
              </a:tblGrid>
              <a:tr h="455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Applications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Allocated Size(GB)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Used size(GB)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651428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Minio bucket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002131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mysql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215324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rabbitMQ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56440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Cellphone-detection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78883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Instrusion-detection-1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363315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Instrusion-detection-2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554443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Instrusion-detection-3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42623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Streamhandler-Zone1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991688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Streamhandler-Zone2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30645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Streamhandler-Zone3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79107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Streamhandler-Zone3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340679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Speeding-claim2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07863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backend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76945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good-obstructive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869223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ppekitdetection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6535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eventmanager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996930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sleeping-detection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319606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ppekitdetection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673608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Mqtt-broker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869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639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3851-26EE-E1F5-F3FC-25D3F2CE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4981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Top Consumers (by Used Space)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36017-E20D-B3AA-F6F0-49DBD6935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These are the only applications using notable capacity:</a:t>
            </a:r>
          </a:p>
          <a:p>
            <a:r>
              <a:rPr lang="en-IN" sz="2400" b="1" dirty="0"/>
              <a:t>Minio bucket</a:t>
            </a:r>
            <a:r>
              <a:rPr lang="en-IN" sz="2400" dirty="0"/>
              <a:t> – 138 GB</a:t>
            </a:r>
          </a:p>
          <a:p>
            <a:r>
              <a:rPr lang="en-IN" sz="2400" b="1" dirty="0" err="1"/>
              <a:t>Cellphone</a:t>
            </a:r>
            <a:r>
              <a:rPr lang="en-IN" sz="2400" b="1" dirty="0"/>
              <a:t>-detection</a:t>
            </a:r>
            <a:r>
              <a:rPr lang="en-IN" sz="2400" dirty="0"/>
              <a:t> – 28 GB</a:t>
            </a:r>
          </a:p>
          <a:p>
            <a:r>
              <a:rPr lang="en-IN" sz="2400" b="1" dirty="0"/>
              <a:t>Intrusion-detection instances</a:t>
            </a:r>
            <a:r>
              <a:rPr lang="en-IN" sz="2400" dirty="0"/>
              <a:t> – 4 GB + 2 GB + 4 GB = </a:t>
            </a:r>
            <a:r>
              <a:rPr lang="en-IN" sz="2400" b="1" dirty="0"/>
              <a:t>10 GB</a:t>
            </a:r>
            <a:endParaRPr lang="en-IN" sz="2400" dirty="0"/>
          </a:p>
          <a:p>
            <a:r>
              <a:rPr lang="en-IN" sz="2400" b="1" dirty="0"/>
              <a:t>RabbitMQ</a:t>
            </a:r>
            <a:r>
              <a:rPr lang="en-IN" sz="2400" dirty="0"/>
              <a:t> – 3 GB</a:t>
            </a:r>
          </a:p>
          <a:p>
            <a:r>
              <a:rPr lang="en-IN" sz="2400" dirty="0"/>
              <a:t>Everything else uses only </a:t>
            </a:r>
            <a:r>
              <a:rPr lang="en-IN" sz="2400" b="1" dirty="0"/>
              <a:t>1 GB each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00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EB2E-9555-6C77-EFF6-6634536B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12" y="129383"/>
            <a:ext cx="10339387" cy="84216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Applications with Large Unused Allocations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723E8D-8CCF-A6C3-3966-85D9AF3BF4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345356"/>
              </p:ext>
            </p:extLst>
          </p:nvPr>
        </p:nvGraphicFramePr>
        <p:xfrm>
          <a:off x="661988" y="1520984"/>
          <a:ext cx="10818020" cy="3858262"/>
        </p:xfrm>
        <a:graphic>
          <a:graphicData uri="http://schemas.openxmlformats.org/drawingml/2006/table">
            <a:tbl>
              <a:tblPr/>
              <a:tblGrid>
                <a:gridCol w="2704505">
                  <a:extLst>
                    <a:ext uri="{9D8B030D-6E8A-4147-A177-3AD203B41FA5}">
                      <a16:colId xmlns:a16="http://schemas.microsoft.com/office/drawing/2014/main" val="455743518"/>
                    </a:ext>
                  </a:extLst>
                </a:gridCol>
                <a:gridCol w="2704505">
                  <a:extLst>
                    <a:ext uri="{9D8B030D-6E8A-4147-A177-3AD203B41FA5}">
                      <a16:colId xmlns:a16="http://schemas.microsoft.com/office/drawing/2014/main" val="1971325245"/>
                    </a:ext>
                  </a:extLst>
                </a:gridCol>
                <a:gridCol w="2704505">
                  <a:extLst>
                    <a:ext uri="{9D8B030D-6E8A-4147-A177-3AD203B41FA5}">
                      <a16:colId xmlns:a16="http://schemas.microsoft.com/office/drawing/2014/main" val="2954021998"/>
                    </a:ext>
                  </a:extLst>
                </a:gridCol>
                <a:gridCol w="2704505">
                  <a:extLst>
                    <a:ext uri="{9D8B030D-6E8A-4147-A177-3AD203B41FA5}">
                      <a16:colId xmlns:a16="http://schemas.microsoft.com/office/drawing/2014/main" val="1492691880"/>
                    </a:ext>
                  </a:extLst>
                </a:gridCol>
              </a:tblGrid>
              <a:tr h="406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Allocated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Utilization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447032"/>
                  </a:ext>
                </a:extLst>
              </a:tr>
              <a:tr h="406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rabbitMQ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0.4%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93798"/>
                  </a:ext>
                </a:extLst>
              </a:tr>
              <a:tr h="71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ppekitdetection (two entries)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 + 100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+ 1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1% each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733072"/>
                  </a:ext>
                </a:extLst>
              </a:tr>
              <a:tr h="406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sleeping-detection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560158"/>
                  </a:ext>
                </a:extLst>
              </a:tr>
              <a:tr h="406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Mqtt-broker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881149"/>
                  </a:ext>
                </a:extLst>
              </a:tr>
              <a:tr h="406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877798"/>
                  </a:ext>
                </a:extLst>
              </a:tr>
              <a:tr h="406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Speeding-claim2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1.25%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408530"/>
                  </a:ext>
                </a:extLst>
              </a:tr>
              <a:tr h="71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Streamhandler (4 instances)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 GB 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GB 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5%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76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57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AF06-AC63-9374-28C2-E44499E5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56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BDB8-A91A-7A92-F19F-C4B76F69C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Excessive Over-Provisioning</a:t>
            </a:r>
          </a:p>
          <a:p>
            <a:pPr lvl="1"/>
            <a:r>
              <a:rPr lang="en-US" dirty="0"/>
              <a:t>Over </a:t>
            </a:r>
            <a:r>
              <a:rPr lang="en-US" b="1" dirty="0"/>
              <a:t>1.9 TB</a:t>
            </a:r>
            <a:r>
              <a:rPr lang="en-US" dirty="0"/>
              <a:t> allocated but only </a:t>
            </a:r>
            <a:r>
              <a:rPr lang="en-US" b="1" dirty="0"/>
              <a:t>194 GB used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RabbitMQ alone has </a:t>
            </a:r>
            <a:r>
              <a:rPr lang="en-US" b="1" dirty="0"/>
              <a:t>747 GB unused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Several workloads appear over-allocated by ~10× to 100×.</a:t>
            </a:r>
          </a:p>
          <a:p>
            <a:pPr marL="457200" lvl="1" indent="0">
              <a:buNone/>
            </a:pP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b="1" dirty="0"/>
              <a:t>High Utilization Areas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Only two workloads meaningfully use space:</a:t>
            </a:r>
          </a:p>
          <a:p>
            <a:pPr lvl="2"/>
            <a:r>
              <a:rPr lang="en-US" dirty="0"/>
              <a:t>Minio bucket (46%)</a:t>
            </a:r>
          </a:p>
          <a:p>
            <a:pPr lvl="2"/>
            <a:r>
              <a:rPr lang="en-US" dirty="0"/>
              <a:t>Cellphone detection (28%)</a:t>
            </a:r>
          </a:p>
          <a:p>
            <a:r>
              <a:rPr lang="en-US" dirty="0"/>
              <a:t>These are the only ones you need to monitor for future growth.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E229-4AC7-51F5-DE95-A253E26CF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9294"/>
          </a:xfrm>
        </p:spPr>
        <p:txBody>
          <a:bodyPr/>
          <a:lstStyle/>
          <a:p>
            <a:pPr algn="ctr"/>
            <a:r>
              <a:rPr lang="en-IN" b="1" dirty="0"/>
              <a:t>Classification of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A526F-5C6B-C9D0-54D0-27FBFBD07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130"/>
            <a:ext cx="10515600" cy="52609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Based on storage size + criticality:</a:t>
            </a:r>
          </a:p>
          <a:p>
            <a:pPr marL="0" indent="0">
              <a:buNone/>
            </a:pPr>
            <a:r>
              <a:rPr lang="en-IN" sz="2100" b="1" dirty="0"/>
              <a:t>Tier-1: Critical Data (Frequent backups)</a:t>
            </a:r>
          </a:p>
          <a:p>
            <a:pPr lvl="1"/>
            <a:r>
              <a:rPr lang="en-IN" sz="1700" b="1" dirty="0"/>
              <a:t>Minio bucket (138 GB used)</a:t>
            </a:r>
            <a:br>
              <a:rPr lang="en-IN" sz="1700" dirty="0"/>
            </a:br>
            <a:r>
              <a:rPr lang="en-IN" sz="1700" dirty="0"/>
              <a:t>Likely holds object data → needs versioning &amp; daily incremental.</a:t>
            </a:r>
          </a:p>
          <a:p>
            <a:pPr lvl="1"/>
            <a:r>
              <a:rPr lang="en-IN" sz="1700" b="1" dirty="0" err="1"/>
              <a:t>mysql</a:t>
            </a:r>
            <a:r>
              <a:rPr lang="en-IN" sz="1700" dirty="0"/>
              <a:t> (DB, RPO &lt;4 hrs)</a:t>
            </a:r>
          </a:p>
          <a:p>
            <a:pPr lvl="1"/>
            <a:r>
              <a:rPr lang="en-IN" sz="1700" b="1" dirty="0" err="1"/>
              <a:t>rabbitMQ</a:t>
            </a:r>
            <a:r>
              <a:rPr lang="en-IN" sz="1700" dirty="0"/>
              <a:t> (3 GB — queue metadata &amp; durable messages)</a:t>
            </a:r>
          </a:p>
          <a:p>
            <a:pPr marL="0" indent="0">
              <a:buNone/>
            </a:pPr>
            <a:r>
              <a:rPr lang="en-IN" sz="2100" b="1" dirty="0"/>
              <a:t>Tier-2: Medium Priority (Daily backup)</a:t>
            </a:r>
          </a:p>
          <a:p>
            <a:pPr lvl="1"/>
            <a:r>
              <a:rPr lang="en-IN" sz="1700" dirty="0"/>
              <a:t>Detection workloads:</a:t>
            </a:r>
          </a:p>
          <a:p>
            <a:pPr lvl="2"/>
            <a:r>
              <a:rPr lang="en-IN" sz="1700" dirty="0" err="1"/>
              <a:t>Cellphone</a:t>
            </a:r>
            <a:r>
              <a:rPr lang="en-IN" sz="1700" dirty="0"/>
              <a:t>-detection (28 GB)</a:t>
            </a:r>
          </a:p>
          <a:p>
            <a:pPr lvl="2"/>
            <a:r>
              <a:rPr lang="en-IN" sz="1700" dirty="0"/>
              <a:t>Intrusion-detection-1/2/3</a:t>
            </a:r>
          </a:p>
          <a:p>
            <a:pPr lvl="2"/>
            <a:r>
              <a:rPr lang="en-IN" sz="1700" dirty="0" err="1"/>
              <a:t>ppekitdetection</a:t>
            </a:r>
            <a:r>
              <a:rPr lang="en-IN" sz="1700" dirty="0"/>
              <a:t> (x2)</a:t>
            </a:r>
          </a:p>
          <a:p>
            <a:pPr lvl="2"/>
            <a:r>
              <a:rPr lang="en-IN" sz="1700" dirty="0"/>
              <a:t>sleeping-detection</a:t>
            </a:r>
          </a:p>
          <a:p>
            <a:pPr lvl="2"/>
            <a:r>
              <a:rPr lang="en-IN" sz="1300" dirty="0" err="1"/>
              <a:t>eventmanager</a:t>
            </a:r>
            <a:endParaRPr lang="en-IN" sz="1300" dirty="0"/>
          </a:p>
          <a:p>
            <a:pPr lvl="2"/>
            <a:r>
              <a:rPr lang="en-IN" sz="1300" dirty="0"/>
              <a:t>backend</a:t>
            </a:r>
          </a:p>
          <a:p>
            <a:pPr marL="0" indent="0">
              <a:buNone/>
            </a:pPr>
            <a:r>
              <a:rPr lang="en-IN" sz="2100" b="1" dirty="0"/>
              <a:t>Tier-3: Low Priority (Weekly backup)</a:t>
            </a:r>
          </a:p>
          <a:p>
            <a:pPr lvl="1"/>
            <a:r>
              <a:rPr lang="en-IN" sz="1700" dirty="0"/>
              <a:t>Streamhandler-Zone1/2/3</a:t>
            </a:r>
          </a:p>
          <a:p>
            <a:pPr lvl="1"/>
            <a:r>
              <a:rPr lang="en-IN" sz="1700" dirty="0" err="1"/>
              <a:t>Mqtt</a:t>
            </a:r>
            <a:r>
              <a:rPr lang="en-IN" sz="1700" dirty="0"/>
              <a:t>-broker</a:t>
            </a:r>
          </a:p>
          <a:p>
            <a:pPr lvl="1"/>
            <a:r>
              <a:rPr lang="en-IN" sz="1700" dirty="0"/>
              <a:t>good-obstructive</a:t>
            </a:r>
          </a:p>
          <a:p>
            <a:pPr lvl="1"/>
            <a:r>
              <a:rPr lang="en-IN" sz="1700" dirty="0"/>
              <a:t>speeding-claim2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2208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39E9-AF2F-E9D4-FD8D-DD4FD970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/>
          <a:lstStyle/>
          <a:p>
            <a:pPr algn="ctr"/>
            <a:r>
              <a:rPr lang="en-IN" b="1" dirty="0"/>
              <a:t>Backup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AEB7-5401-096A-16B0-04B8E483A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300" b="1" dirty="0"/>
              <a:t>1. MySQL</a:t>
            </a:r>
          </a:p>
          <a:p>
            <a:pPr lvl="1"/>
            <a:r>
              <a:rPr lang="en-IN" sz="1200" b="1" dirty="0"/>
              <a:t>Method:</a:t>
            </a:r>
            <a:r>
              <a:rPr lang="en-IN" sz="1200" dirty="0"/>
              <a:t> Logical backup (</a:t>
            </a:r>
            <a:r>
              <a:rPr lang="en-IN" sz="1200" dirty="0" err="1"/>
              <a:t>mysqldump</a:t>
            </a:r>
            <a:r>
              <a:rPr lang="en-IN" sz="1200" dirty="0"/>
              <a:t> for small DB) + weekly full physical backup</a:t>
            </a:r>
          </a:p>
          <a:p>
            <a:pPr lvl="1"/>
            <a:r>
              <a:rPr lang="en-IN" sz="1200" b="1" dirty="0"/>
              <a:t>Schedule:</a:t>
            </a:r>
            <a:endParaRPr lang="en-IN" sz="1200" dirty="0"/>
          </a:p>
          <a:p>
            <a:pPr lvl="2"/>
            <a:r>
              <a:rPr lang="en-IN" sz="1200" dirty="0"/>
              <a:t>Incremental: every 4 hours</a:t>
            </a:r>
          </a:p>
          <a:p>
            <a:pPr lvl="2"/>
            <a:r>
              <a:rPr lang="en-IN" sz="1200" dirty="0"/>
              <a:t>Full: daily at midnight</a:t>
            </a:r>
          </a:p>
          <a:p>
            <a:pPr lvl="2"/>
            <a:r>
              <a:rPr lang="en-IN" sz="1200" b="1" dirty="0"/>
              <a:t>Retention:</a:t>
            </a:r>
            <a:r>
              <a:rPr lang="en-IN" sz="1200" dirty="0"/>
              <a:t> 30 days</a:t>
            </a:r>
          </a:p>
          <a:p>
            <a:pPr lvl="1"/>
            <a:r>
              <a:rPr lang="en-IN" sz="1200" b="1" dirty="0"/>
              <a:t>Target:</a:t>
            </a:r>
            <a:r>
              <a:rPr lang="en-IN" sz="1200" dirty="0"/>
              <a:t> </a:t>
            </a:r>
            <a:r>
              <a:rPr lang="en-IN" sz="1200" dirty="0" err="1"/>
              <a:t>MinIO</a:t>
            </a:r>
            <a:r>
              <a:rPr lang="en-IN" sz="1200" dirty="0"/>
              <a:t> bucket + offsite cloud</a:t>
            </a:r>
          </a:p>
          <a:p>
            <a:pPr marL="457200" lvl="1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1300" b="1" dirty="0"/>
              <a:t>2. RabbitMQ</a:t>
            </a:r>
          </a:p>
          <a:p>
            <a:r>
              <a:rPr lang="en-IN" sz="1300" dirty="0"/>
              <a:t>Backup:</a:t>
            </a:r>
          </a:p>
          <a:p>
            <a:pPr lvl="1"/>
            <a:r>
              <a:rPr lang="en-IN" sz="1200" dirty="0"/>
              <a:t>Definitions (queues, exchanges)</a:t>
            </a:r>
          </a:p>
          <a:p>
            <a:pPr lvl="1"/>
            <a:r>
              <a:rPr lang="en-IN" sz="1200" dirty="0" err="1"/>
              <a:t>Mnesia</a:t>
            </a:r>
            <a:r>
              <a:rPr lang="en-IN" sz="1200" dirty="0"/>
              <a:t> database if mirrored</a:t>
            </a:r>
          </a:p>
          <a:p>
            <a:pPr marL="457200" lvl="1" indent="0">
              <a:buNone/>
            </a:pPr>
            <a:r>
              <a:rPr lang="en-IN" sz="1200" b="1" dirty="0"/>
              <a:t>Frequency:</a:t>
            </a:r>
            <a:r>
              <a:rPr lang="en-IN" sz="1200" dirty="0"/>
              <a:t> Every 6 hours</a:t>
            </a:r>
          </a:p>
          <a:p>
            <a:pPr marL="457200" lvl="1" indent="0">
              <a:buNone/>
            </a:pPr>
            <a:r>
              <a:rPr lang="en-IN" sz="1200" b="1" dirty="0"/>
              <a:t>Retention:</a:t>
            </a:r>
            <a:r>
              <a:rPr lang="en-IN" sz="1200" dirty="0"/>
              <a:t> 14 days</a:t>
            </a:r>
          </a:p>
          <a:p>
            <a:pPr marL="0" indent="0">
              <a:buNone/>
            </a:pPr>
            <a:r>
              <a:rPr lang="en-IN" sz="1200" dirty="0"/>
              <a:t>3. </a:t>
            </a:r>
            <a:r>
              <a:rPr lang="en-IN" sz="1200" b="1" dirty="0" err="1"/>
              <a:t>MinIO</a:t>
            </a:r>
            <a:r>
              <a:rPr lang="en-IN" sz="1200" b="1" dirty="0"/>
              <a:t> Bucket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replication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incremental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mc mirror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Weekly full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 metadata backup.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Offsite target: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S3 or cloud bucket</a:t>
            </a:r>
            <a:endParaRPr lang="en-IN" sz="1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1EB5EB9-4D15-FF7A-0981-D351D5117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8635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14F4-29CA-A3D9-3F73-909AE186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588"/>
          </a:xfrm>
        </p:spPr>
        <p:txBody>
          <a:bodyPr/>
          <a:lstStyle/>
          <a:p>
            <a:pPr algn="ctr"/>
            <a:r>
              <a:rPr lang="en-IN" b="1" dirty="0"/>
              <a:t>Backup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11968-D814-3272-27AA-EE3976C96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756" y="1189830"/>
            <a:ext cx="10515600" cy="5303043"/>
          </a:xfrm>
        </p:spPr>
        <p:txBody>
          <a:bodyPr/>
          <a:lstStyle/>
          <a:p>
            <a:r>
              <a:rPr lang="en-IN" sz="2400" b="1" dirty="0"/>
              <a:t>Application Volume Backups</a:t>
            </a:r>
          </a:p>
          <a:p>
            <a:pPr lvl="1"/>
            <a:r>
              <a:rPr lang="en-IN" sz="1400" dirty="0"/>
              <a:t>Workloads using PVCs (detection apps, </a:t>
            </a:r>
            <a:r>
              <a:rPr lang="en-IN" sz="1400" dirty="0" err="1"/>
              <a:t>streamhandler</a:t>
            </a:r>
            <a:r>
              <a:rPr lang="en-IN" sz="1400" dirty="0"/>
              <a:t>):</a:t>
            </a:r>
          </a:p>
          <a:p>
            <a:pPr marL="457200" lvl="1" indent="0">
              <a:buNone/>
            </a:pPr>
            <a:r>
              <a:rPr lang="en-IN" sz="1400" b="1" dirty="0"/>
              <a:t>Method:</a:t>
            </a:r>
          </a:p>
          <a:p>
            <a:pPr lvl="2"/>
            <a:r>
              <a:rPr lang="en-IN" sz="1200" dirty="0"/>
              <a:t>Use </a:t>
            </a:r>
            <a:r>
              <a:rPr lang="en-IN" sz="1200" b="1" dirty="0" err="1"/>
              <a:t>Velero</a:t>
            </a:r>
            <a:r>
              <a:rPr lang="en-IN" sz="1200" dirty="0"/>
              <a:t> + CSI snapshots</a:t>
            </a:r>
          </a:p>
          <a:p>
            <a:pPr lvl="2"/>
            <a:r>
              <a:rPr lang="en-IN" sz="1200" dirty="0"/>
              <a:t>Full snapshot every night</a:t>
            </a:r>
          </a:p>
          <a:p>
            <a:pPr lvl="2"/>
            <a:r>
              <a:rPr lang="en-IN" sz="1200" dirty="0"/>
              <a:t>Incremental delta every 4 hrs (if storage supports)</a:t>
            </a:r>
          </a:p>
          <a:p>
            <a:pPr marL="0" indent="0">
              <a:buNone/>
            </a:pPr>
            <a:r>
              <a:rPr lang="en-IN" sz="2400" b="1" dirty="0"/>
              <a:t>Configuration &amp; Metadata Backup</a:t>
            </a:r>
          </a:p>
          <a:p>
            <a:pPr lvl="1"/>
            <a:r>
              <a:rPr lang="en-IN" sz="1400" dirty="0"/>
              <a:t>Kubernetes manifests:</a:t>
            </a:r>
          </a:p>
          <a:p>
            <a:pPr lvl="1"/>
            <a:r>
              <a:rPr lang="en-IN" sz="1400" dirty="0"/>
              <a:t>Deployments, Services, </a:t>
            </a:r>
            <a:r>
              <a:rPr lang="en-IN" sz="1400" dirty="0" err="1"/>
              <a:t>StatefulSets</a:t>
            </a:r>
            <a:endParaRPr lang="en-IN" sz="1400" dirty="0"/>
          </a:p>
          <a:p>
            <a:pPr lvl="1"/>
            <a:r>
              <a:rPr lang="en-IN" sz="1400" dirty="0"/>
              <a:t>Ingress, Secrets, </a:t>
            </a:r>
            <a:r>
              <a:rPr lang="en-IN" sz="1400" dirty="0" err="1"/>
              <a:t>ConfigMaps</a:t>
            </a:r>
            <a:endParaRPr lang="en-IN" sz="1400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7635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3414-73DD-32FE-A98A-97FAB2F8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/>
              <a:t>Storage Capacity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3792-0B6F-1E7B-3B58-EF6AD872A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Current total used = </a:t>
            </a:r>
            <a:r>
              <a:rPr lang="en-US" sz="1400" b="1" dirty="0"/>
              <a:t>194 GB</a:t>
            </a:r>
            <a:endParaRPr lang="en-US" sz="1400" dirty="0"/>
          </a:p>
          <a:p>
            <a:r>
              <a:rPr lang="en-US" sz="1600" b="1" dirty="0"/>
              <a:t>Estimated yearly growth</a:t>
            </a:r>
            <a:r>
              <a:rPr lang="en-US" sz="1400" b="1" dirty="0"/>
              <a:t>:</a:t>
            </a:r>
          </a:p>
          <a:p>
            <a:pPr lvl="1"/>
            <a:r>
              <a:rPr lang="en-US" sz="1400" dirty="0" err="1"/>
              <a:t>MinIO</a:t>
            </a:r>
            <a:r>
              <a:rPr lang="en-US" sz="1400" dirty="0"/>
              <a:t>: +30%</a:t>
            </a:r>
          </a:p>
          <a:p>
            <a:pPr lvl="1"/>
            <a:r>
              <a:rPr lang="en-US" sz="1400" dirty="0"/>
              <a:t>Detection apps: +20%</a:t>
            </a:r>
          </a:p>
          <a:p>
            <a:pPr lvl="1"/>
            <a:r>
              <a:rPr lang="en-US" sz="1400" dirty="0"/>
              <a:t>Others: +10%</a:t>
            </a:r>
          </a:p>
          <a:p>
            <a:r>
              <a:rPr lang="en-US" sz="1600" b="1" dirty="0"/>
              <a:t>Required backup storage:</a:t>
            </a:r>
          </a:p>
          <a:p>
            <a:pPr lvl="1"/>
            <a:r>
              <a:rPr lang="en-US" sz="2000" dirty="0"/>
              <a:t>194 GB × 20 daily copies × 1.5 overhead ≈ </a:t>
            </a:r>
            <a:r>
              <a:rPr lang="en-US" sz="2000" b="1" dirty="0"/>
              <a:t>6 TB</a:t>
            </a:r>
            <a:r>
              <a:rPr lang="en-US" sz="2000" dirty="0"/>
              <a:t> required</a:t>
            </a:r>
          </a:p>
          <a:p>
            <a:r>
              <a:rPr lang="en-US" sz="2400" dirty="0"/>
              <a:t>Recommend:</a:t>
            </a:r>
          </a:p>
          <a:p>
            <a:pPr lvl="1"/>
            <a:r>
              <a:rPr lang="en-US" dirty="0"/>
              <a:t>10 TB backup bucket long-term</a:t>
            </a:r>
          </a:p>
          <a:p>
            <a:pPr lvl="1"/>
            <a:r>
              <a:rPr lang="en-US" dirty="0"/>
              <a:t>5 TB offsite store for 6 months retention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969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585</Words>
  <Application>Microsoft Office PowerPoint</Application>
  <PresentationFormat>Widescreen</PresentationFormat>
  <Paragraphs>178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Narrow</vt:lpstr>
      <vt:lpstr>Arial</vt:lpstr>
      <vt:lpstr>Arial Unicode MS</vt:lpstr>
      <vt:lpstr>Calibri</vt:lpstr>
      <vt:lpstr>Calibri Light</vt:lpstr>
      <vt:lpstr>Office Theme</vt:lpstr>
      <vt:lpstr>Storage Summary (Allocated vs Used)</vt:lpstr>
      <vt:lpstr>Top Consumers (by Used Space)</vt:lpstr>
      <vt:lpstr>Applications with Large Unused Allocations</vt:lpstr>
      <vt:lpstr>Observations</vt:lpstr>
      <vt:lpstr>Classification of Applications</vt:lpstr>
      <vt:lpstr>Backup Strategy</vt:lpstr>
      <vt:lpstr>Backup Strategy</vt:lpstr>
      <vt:lpstr>Storage Capacity 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Kumari</dc:creator>
  <cp:lastModifiedBy>Priyanka Kumari</cp:lastModifiedBy>
  <cp:revision>4</cp:revision>
  <dcterms:created xsi:type="dcterms:W3CDTF">2025-12-09T08:22:29Z</dcterms:created>
  <dcterms:modified xsi:type="dcterms:W3CDTF">2025-12-09T10:43:37Z</dcterms:modified>
</cp:coreProperties>
</file>