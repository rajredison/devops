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7" r:id="rId6"/>
    <p:sldId id="266" r:id="rId7"/>
    <p:sldId id="269" r:id="rId8"/>
    <p:sldId id="270" r:id="rId9"/>
    <p:sldId id="271" r:id="rId10"/>
    <p:sldId id="272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8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96989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IN" dirty="0"/>
              <a:t>Dell </a:t>
            </a:r>
            <a:r>
              <a:rPr lang="en-IN" dirty="0" err="1"/>
              <a:t>NativeEdge</a:t>
            </a:r>
            <a:r>
              <a:rPr lang="en-IN" dirty="0"/>
              <a:t> – Backup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dirty="0"/>
              <a:t>Dell </a:t>
            </a:r>
            <a:r>
              <a:rPr dirty="0" err="1"/>
              <a:t>NativeEdge</a:t>
            </a:r>
            <a:r>
              <a:rPr dirty="0"/>
              <a:t> Backup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 err="1"/>
              <a:t>NativeEdge</a:t>
            </a:r>
            <a:r>
              <a:rPr dirty="0"/>
              <a:t> manages VM &amp; app lifecycle, but backup must run inside the VM.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MySQL, </a:t>
            </a:r>
            <a:r>
              <a:rPr dirty="0" err="1"/>
              <a:t>MinIO</a:t>
            </a:r>
            <a:r>
              <a:rPr dirty="0"/>
              <a:t>, and app data should be backed up externally.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NAS (NFS/SMB) is fully supported as a backup endpoint.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Automation integrates with mc mirror, </a:t>
            </a:r>
            <a:r>
              <a:rPr dirty="0" err="1"/>
              <a:t>rclone</a:t>
            </a:r>
            <a:r>
              <a:rPr dirty="0"/>
              <a:t>, </a:t>
            </a:r>
            <a:r>
              <a:rPr dirty="0" err="1"/>
              <a:t>cron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dirty="0" err="1"/>
              <a:t>MinIO</a:t>
            </a:r>
            <a:r>
              <a:rPr dirty="0"/>
              <a:t> → NAS Backup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MinIO cluster provides S3 endpoint.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Backup server or VM mounts NAS over NFS/SMB.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mc mirror / rclone sync MinIO → NAS.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Versioning and metadata are preserved on 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IN" dirty="0" err="1"/>
              <a:t>MinIO</a:t>
            </a:r>
            <a:r>
              <a:rPr lang="en-IN" dirty="0"/>
              <a:t> → </a:t>
            </a:r>
            <a:r>
              <a:rPr dirty="0"/>
              <a:t>Backup to S3-Compatible Clouds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Wasabi, </a:t>
            </a:r>
            <a:r>
              <a:rPr lang="en-US" dirty="0"/>
              <a:t>AWS, Azure, Google Cloud, </a:t>
            </a:r>
            <a:r>
              <a:rPr dirty="0" err="1"/>
              <a:t>Backblaze</a:t>
            </a:r>
            <a:r>
              <a:rPr dirty="0"/>
              <a:t> B2, </a:t>
            </a:r>
            <a:r>
              <a:rPr dirty="0" err="1"/>
              <a:t>DigitalOcean</a:t>
            </a:r>
            <a:r>
              <a:rPr dirty="0"/>
              <a:t> Spaces, Cloudflare R2.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mc mirror </a:t>
            </a:r>
            <a:r>
              <a:rPr dirty="0" err="1"/>
              <a:t>minio</a:t>
            </a:r>
            <a:r>
              <a:rPr dirty="0"/>
              <a:t>/</a:t>
            </a:r>
            <a:r>
              <a:rPr dirty="0" err="1"/>
              <a:t>mybucket</a:t>
            </a:r>
            <a:r>
              <a:rPr dirty="0"/>
              <a:t> remote/</a:t>
            </a:r>
            <a:r>
              <a:rPr dirty="0" err="1"/>
              <a:t>mybucket</a:t>
            </a:r>
            <a:r>
              <a:rPr dirty="0"/>
              <a:t>-backup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Low cost + high durability.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Easy integration with </a:t>
            </a:r>
            <a:r>
              <a:rPr dirty="0" err="1"/>
              <a:t>NativeEdge</a:t>
            </a:r>
            <a:r>
              <a:rPr dirty="0"/>
              <a:t> workloads.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IN" dirty="0"/>
              <a:t>MySQL → </a:t>
            </a:r>
            <a:r>
              <a:rPr dirty="0"/>
              <a:t>Backup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Back up MySQL data to NAS storage.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Supports NFS or SMB NAS devices.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dirty="0"/>
              <a:t>Suitable for production databases.</a:t>
            </a:r>
            <a:endParaRPr lang="en-US" dirty="0"/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lang="en-US" dirty="0"/>
              <a:t>Back up MySQL data to Cloud.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dirty="0"/>
              <a:t>Take a local backup &amp; upload it to the cloud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endParaRPr lang="en-US" dirty="0"/>
          </a:p>
          <a:p>
            <a:pPr lvl="1">
              <a:defRPr sz="1800">
                <a:solidFill>
                  <a:srgbClr val="282828"/>
                </a:solidFill>
              </a:defRPr>
            </a:pPr>
            <a:endParaRPr lang="en-US" dirty="0"/>
          </a:p>
          <a:p>
            <a:pPr lvl="1">
              <a:defRPr sz="1800">
                <a:solidFill>
                  <a:srgbClr val="282828"/>
                </a:solidFill>
              </a:defRPr>
            </a:pPr>
            <a:endParaRPr lang="en-US" dirty="0"/>
          </a:p>
          <a:p>
            <a:pPr marL="457200" lvl="1" indent="0">
              <a:buNone/>
              <a:defRPr sz="1800">
                <a:solidFill>
                  <a:srgbClr val="282828"/>
                </a:solidFill>
              </a:defRPr>
            </a:pPr>
            <a:endParaRPr lang="en-US" sz="1800" dirty="0"/>
          </a:p>
          <a:p>
            <a:pPr marL="457200" lvl="1" indent="0">
              <a:buNone/>
              <a:defRPr sz="1800">
                <a:solidFill>
                  <a:srgbClr val="282828"/>
                </a:solidFill>
              </a:defRPr>
            </a:pPr>
            <a:endParaRPr lang="en-US" sz="1800" dirty="0"/>
          </a:p>
          <a:p>
            <a:pPr marL="457200" lvl="1" indent="0">
              <a:buNone/>
              <a:defRPr sz="1800">
                <a:solidFill>
                  <a:srgbClr val="282828"/>
                </a:solidFill>
              </a:defRPr>
            </a:pPr>
            <a:endParaRPr lang="en-US" sz="1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CFABCA-DF08-FF79-C471-B9B19E4E3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47170"/>
              </p:ext>
            </p:extLst>
          </p:nvPr>
        </p:nvGraphicFramePr>
        <p:xfrm>
          <a:off x="921173" y="3449319"/>
          <a:ext cx="6028267" cy="2131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9529">
                  <a:extLst>
                    <a:ext uri="{9D8B030D-6E8A-4147-A177-3AD203B41FA5}">
                      <a16:colId xmlns:a16="http://schemas.microsoft.com/office/drawing/2014/main" val="1500510401"/>
                    </a:ext>
                  </a:extLst>
                </a:gridCol>
                <a:gridCol w="3368738">
                  <a:extLst>
                    <a:ext uri="{9D8B030D-6E8A-4147-A177-3AD203B41FA5}">
                      <a16:colId xmlns:a16="http://schemas.microsoft.com/office/drawing/2014/main" val="3670091601"/>
                    </a:ext>
                  </a:extLst>
                </a:gridCol>
              </a:tblGrid>
              <a:tr h="710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Workload Size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Recommended Backup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88342537"/>
                  </a:ext>
                </a:extLst>
              </a:tr>
              <a:tr h="3553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&lt; 10GB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mysqldump → Cloud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1837957"/>
                  </a:ext>
                </a:extLst>
              </a:tr>
              <a:tr h="7106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10–100GB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mysqlpump/XtraBackup → Cloud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25893735"/>
                  </a:ext>
                </a:extLst>
              </a:tr>
              <a:tr h="3553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100GB–5TB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XtraBackup</a:t>
                      </a:r>
                      <a:r>
                        <a:rPr lang="en-IN" sz="1100" u="none" strike="noStrike" dirty="0">
                          <a:effectLst/>
                        </a:rPr>
                        <a:t> → Cloud (</a:t>
                      </a:r>
                      <a:r>
                        <a:rPr lang="en-IN" sz="1100" u="none" strike="noStrike" dirty="0" err="1">
                          <a:effectLst/>
                        </a:rPr>
                        <a:t>rclone</a:t>
                      </a:r>
                      <a:r>
                        <a:rPr lang="en-IN" sz="1100" u="none" strike="noStrike" dirty="0">
                          <a:effectLst/>
                        </a:rPr>
                        <a:t>)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46113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5AF6F-317F-2771-7376-E7C5F2AB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6B24-A7D2-FBFB-5817-71412D2A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US" dirty="0"/>
              <a:t>Kubernetes Cluster </a:t>
            </a:r>
            <a:r>
              <a:rPr dirty="0"/>
              <a:t>Backup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476CC-B10B-B1F3-EF43-4FC3C3AC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lang="en-US" dirty="0" err="1"/>
              <a:t>Velero</a:t>
            </a:r>
            <a:r>
              <a:rPr lang="en-US" dirty="0"/>
              <a:t> requires S3-compatible storage; NAS cannot be used directly.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US" dirty="0"/>
              <a:t>Solution: </a:t>
            </a:r>
            <a:r>
              <a:rPr lang="en-US" dirty="0" err="1"/>
              <a:t>MinIO</a:t>
            </a:r>
            <a:r>
              <a:rPr lang="en-US" dirty="0"/>
              <a:t> (NAS backend) + </a:t>
            </a:r>
            <a:r>
              <a:rPr lang="en-US" dirty="0" err="1"/>
              <a:t>Restic</a:t>
            </a:r>
            <a:r>
              <a:rPr lang="en-US" dirty="0"/>
              <a:t> for PV backups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lang="en-IN" dirty="0"/>
              <a:t>Use Kubernetes </a:t>
            </a:r>
            <a:r>
              <a:rPr lang="en-IN" dirty="0" err="1"/>
              <a:t>CronJobs</a:t>
            </a:r>
            <a:r>
              <a:rPr lang="en-IN" dirty="0"/>
              <a:t> for automated </a:t>
            </a:r>
            <a:r>
              <a:rPr lang="en-IN" dirty="0" err="1"/>
              <a:t>velero</a:t>
            </a:r>
            <a:r>
              <a:rPr lang="en-IN" dirty="0"/>
              <a:t> backups.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IN" dirty="0"/>
              <a:t>Automate </a:t>
            </a:r>
            <a:r>
              <a:rPr lang="en-IN" dirty="0" err="1"/>
              <a:t>rclone</a:t>
            </a:r>
            <a:r>
              <a:rPr lang="en-IN" dirty="0"/>
              <a:t> sync using </a:t>
            </a:r>
            <a:r>
              <a:rPr lang="en-IN" dirty="0" err="1"/>
              <a:t>cron</a:t>
            </a:r>
            <a:r>
              <a:rPr lang="en-IN" dirty="0"/>
              <a:t> or K8s Jobs.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IN" dirty="0"/>
              <a:t>Implement retention and cleanup policies.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rPr lang="en-IN" dirty="0"/>
              <a:t>Monitor backup health via </a:t>
            </a:r>
            <a:r>
              <a:rPr lang="en-IN" dirty="0" err="1"/>
              <a:t>Velero</a:t>
            </a:r>
            <a:r>
              <a:rPr lang="en-IN" dirty="0"/>
              <a:t> logs + alerts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2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664C3-2353-C3C3-5CC4-461877FA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2721-63C5-7F33-8690-7AEF33D7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0055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US" dirty="0"/>
              <a:t>Kubernetes Cluster </a:t>
            </a:r>
            <a:r>
              <a:rPr dirty="0"/>
              <a:t>Backup </a:t>
            </a:r>
            <a:r>
              <a:rPr lang="en-IN" dirty="0"/>
              <a:t>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625B6-48C7-2D59-8DA2-2E6BB82A3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282828"/>
                </a:solidFill>
              </a:defRPr>
            </a:pPr>
            <a:endParaRPr lang="en-IN" sz="1800" b="1" dirty="0"/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B499FB-DF81-7951-4221-83BDB2924BF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97221"/>
          <a:ext cx="8229600" cy="39319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46312234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218855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1353130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91948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Storage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Plugin?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62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AWS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(AWS plugin)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90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Azure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Blob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(Velero Azure plugin)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Blob 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39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Google Cloud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(GCP plugin)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GCS bucket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2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IBM Cloud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 (S3-compatible)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AWS plugin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98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MinIO / Wasabi / Backblaze B2 / DO Spaces</a:t>
                      </a:r>
                      <a:endParaRPr lang="pl-P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S3-compatible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AWS plugin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586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Cloudflare R2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S3-compatible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cheap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86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86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ABC6F-44D0-01B2-9E0B-725CB298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44F4-BB86-B293-2C02-E1D70134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US" dirty="0"/>
              <a:t>VM Snapshot</a:t>
            </a:r>
            <a:r>
              <a:rPr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5816-2C69-5375-4F5D-8E708850F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You can not snapshot the VM </a:t>
            </a:r>
            <a:r>
              <a:rPr lang="en-IN" sz="1800" dirty="0"/>
              <a:t>with PCI-passthrough GPUs</a:t>
            </a:r>
            <a:endParaRPr lang="en-IN" sz="1800" dirty="0">
              <a:solidFill>
                <a:srgbClr val="282828"/>
              </a:solidFill>
            </a:endParaRPr>
          </a:p>
          <a:p>
            <a:r>
              <a:rPr lang="en-IN" sz="1800" dirty="0">
                <a:solidFill>
                  <a:srgbClr val="282828"/>
                </a:solidFill>
              </a:rPr>
              <a:t>PCI passthrough maps GPU hardware directly into the guest OS.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282828"/>
                </a:solidFill>
              </a:rPr>
              <a:t>            • Hypervisor cannot capture GPU internal state (VRAM, queues, firmware).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282828"/>
                </a:solidFill>
              </a:rPr>
              <a:t>            • Snapshot restore causes driver/app inconsistency or crash.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5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F478C-E469-462E-FA5E-9D305C61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54-E12B-17C7-7708-4C24F358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IN" dirty="0"/>
              <a:t>Dell </a:t>
            </a:r>
            <a:r>
              <a:rPr lang="en-IN" dirty="0" err="1"/>
              <a:t>NativeEdge</a:t>
            </a:r>
            <a:r>
              <a:rPr lang="en-IN" dirty="0"/>
              <a:t> Orchestrator Backup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09D3-598E-BE91-3863-9D2DBC139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Needs to Be Backed Up</a:t>
            </a:r>
            <a:endParaRPr lang="en-IN" sz="240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lang="en-US" sz="1800" dirty="0"/>
              <a:t>      • Orchestrator configuration</a:t>
            </a:r>
          </a:p>
          <a:p>
            <a:pPr marL="0" indent="0">
              <a:buNone/>
            </a:pPr>
            <a:r>
              <a:rPr lang="en-US" sz="1800" dirty="0"/>
              <a:t>      • Device and edge profiles</a:t>
            </a:r>
          </a:p>
          <a:p>
            <a:pPr marL="0" indent="0">
              <a:buNone/>
            </a:pPr>
            <a:r>
              <a:rPr lang="en-US" sz="1800" dirty="0"/>
              <a:t>      • Application blueprints &amp; workflows</a:t>
            </a:r>
          </a:p>
          <a:p>
            <a:pPr marL="0" indent="0">
              <a:buNone/>
            </a:pPr>
            <a:r>
              <a:rPr lang="en-US" sz="1800" dirty="0"/>
              <a:t>      • Deployment configurations</a:t>
            </a:r>
          </a:p>
          <a:p>
            <a:pPr marL="0" indent="0">
              <a:buNone/>
            </a:pPr>
            <a:r>
              <a:rPr lang="en-US" sz="1800" dirty="0"/>
              <a:t>      • Certificates, secrets, API tokens</a:t>
            </a:r>
          </a:p>
          <a:p>
            <a:pPr marL="0" indent="0">
              <a:buNone/>
            </a:pPr>
            <a:r>
              <a:rPr lang="en-US" sz="1800" dirty="0"/>
              <a:t>      • Tenant &amp; user settings</a:t>
            </a:r>
          </a:p>
          <a:p>
            <a:pPr marL="0" indent="0">
              <a:buNone/>
            </a:pPr>
            <a:r>
              <a:rPr lang="en-US" sz="1800" dirty="0"/>
              <a:t>      • System metadata and policies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852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CEFAF-087B-1F4D-4A9A-8CAB819D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2EFD-3BE7-475F-5F82-F96FFC41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0375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007DB8"/>
                </a:solidFill>
              </a:defRPr>
            </a:pPr>
            <a:r>
              <a:rPr lang="en-IN" dirty="0"/>
              <a:t>Dell </a:t>
            </a:r>
            <a:r>
              <a:rPr lang="en-IN" dirty="0" err="1"/>
              <a:t>NativeEdge</a:t>
            </a:r>
            <a:r>
              <a:rPr lang="en-IN" dirty="0"/>
              <a:t> Orchestrator Backup Method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E5F0-1515-6230-ADB5-F68E6FE28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/>
              <a:t>	• </a:t>
            </a:r>
            <a:r>
              <a:rPr lang="en-IN" sz="1800" dirty="0" err="1"/>
              <a:t>NativeEdge</a:t>
            </a:r>
            <a:r>
              <a:rPr lang="en-IN" sz="1800" dirty="0"/>
              <a:t> built‑in configuration export API</a:t>
            </a:r>
          </a:p>
          <a:p>
            <a:pPr marL="0" indent="0">
              <a:buNone/>
            </a:pPr>
            <a:r>
              <a:rPr lang="en-IN" sz="1800" dirty="0"/>
              <a:t>	• VM‑level hypervisor backup (when no passthrough GPU)</a:t>
            </a:r>
          </a:p>
          <a:p>
            <a:pPr marL="0" indent="0">
              <a:buNone/>
            </a:pPr>
            <a:r>
              <a:rPr lang="en-IN" sz="1800" dirty="0"/>
              <a:t>	• Database backup (</a:t>
            </a:r>
            <a:r>
              <a:rPr lang="en-IN" sz="1800" dirty="0" err="1"/>
              <a:t>pg_dump</a:t>
            </a:r>
            <a:r>
              <a:rPr lang="en-IN" sz="1800" dirty="0"/>
              <a:t> / </a:t>
            </a:r>
            <a:r>
              <a:rPr lang="en-IN" sz="1800" dirty="0" err="1"/>
              <a:t>cron</a:t>
            </a:r>
            <a:r>
              <a:rPr lang="en-IN" sz="1800" dirty="0"/>
              <a:t> / external DB)</a:t>
            </a:r>
          </a:p>
          <a:p>
            <a:pPr marL="0" indent="0">
              <a:buNone/>
            </a:pPr>
            <a:r>
              <a:rPr lang="en-IN" sz="1800" dirty="0"/>
              <a:t>	• </a:t>
            </a:r>
            <a:r>
              <a:rPr lang="en-IN" sz="1800" dirty="0" err="1"/>
              <a:t>GitOps</a:t>
            </a:r>
            <a:r>
              <a:rPr lang="en-IN" sz="1800" dirty="0"/>
              <a:t> backup for blueprints &amp; device definitions</a:t>
            </a:r>
          </a:p>
          <a:p>
            <a:pPr marL="0" indent="0">
              <a:buNone/>
            </a:pPr>
            <a:r>
              <a:rPr lang="en-IN" sz="1800" dirty="0"/>
              <a:t>	• Automated scheduled backups to NAS or Cloud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97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B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A0B2D-6F18-478B-6CE2-0EC17141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02D7-F3A5-7A88-263F-3DC03E028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96989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IN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7163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501</Words>
  <Application>Microsoft Office PowerPoint</Application>
  <PresentationFormat>On-screen Show (4:3)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Dell NativeEdge – Backup</vt:lpstr>
      <vt:lpstr>Dell NativeEdge Backup Overview</vt:lpstr>
      <vt:lpstr>MinIO → NAS Backup Architecture</vt:lpstr>
      <vt:lpstr>MinIO → Backup to S3-Compatible Clouds</vt:lpstr>
      <vt:lpstr>MySQL → Backup Overview</vt:lpstr>
      <vt:lpstr>Kubernetes Cluster Backup Overview</vt:lpstr>
      <vt:lpstr>Kubernetes Cluster Backup Overview</vt:lpstr>
      <vt:lpstr>VM Snapshot Overview</vt:lpstr>
      <vt:lpstr>Dell NativeEdge Orchestrator Backup</vt:lpstr>
      <vt:lpstr>Dell NativeEdge Orchestrator Backup Method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Priyanka Kumari</dc:creator>
  <cp:keywords/>
  <dc:description>generated using python-pptx</dc:description>
  <cp:lastModifiedBy>Priyanka Kumari</cp:lastModifiedBy>
  <cp:revision>3</cp:revision>
  <dcterms:created xsi:type="dcterms:W3CDTF">2013-01-27T09:14:16Z</dcterms:created>
  <dcterms:modified xsi:type="dcterms:W3CDTF">2025-11-20T12:16:53Z</dcterms:modified>
  <cp:category/>
</cp:coreProperties>
</file>